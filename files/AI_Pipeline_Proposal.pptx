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286000"/>
            <a:ext cx="27432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外部 AI 工具 Pipeline 搭建方案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D1"/>
                </a:solidFill>
                <a:latin typeface="Microsoft YaHei"/>
              </a:defRPr>
            </a:pPr>
            <a:r>
              <a:t>基于 Claude Code / OpenClaw 等外部 AI 能力，构建研发效能提升路径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F6E"/>
                </a:solidFill>
                <a:latin typeface="Microsoft YaHei"/>
              </a:defRPr>
            </a:pPr>
            <a:r>
              <a:t>2025年  |  技术规划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8D1"/>
                </a:solidFill>
                <a:latin typeface="Microsoft YaHei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背景与动机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37160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783080"/>
            <a:ext cx="127000" cy="1270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600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Microsoft YaHei"/>
              </a:defRPr>
            </a:pPr>
            <a:r>
              <a:t>行业趋势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AI 辅助编程已成主流，Cursor + Claude Opus 等工具在代码生成、</a:t>
            </a:r>
            <a:br/>
            <a:r>
              <a:t>系统设计、论文辅助等场景表现突出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698480" cy="137160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3429000"/>
            <a:ext cx="127000" cy="1270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3246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Microsoft YaHei"/>
              </a:defRPr>
            </a:pPr>
            <a:r>
              <a:t>实际体验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576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蓝区 Cursor + Opus 实测效果显著，在代码构建、逻辑推理方面</a:t>
            </a:r>
            <a:br/>
            <a:r>
              <a:t>展现出强大能力，值得系统性引入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698480" cy="137160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5074920"/>
            <a:ext cx="127000" cy="12700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892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Microsoft YaHei"/>
              </a:defRPr>
            </a:pPr>
            <a:r>
              <a:t>核心目标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303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在外部搭建 AI 工具使用 Pipeline，分阶段落地，</a:t>
            </a:r>
            <a:br/>
            <a:r>
              <a:t>逐步实现 AI 驱动的研发效能跃升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8D1"/>
                </a:solidFill>
                <a:latin typeface="Microsoft YaHei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总体规划路线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6C6D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651760"/>
            <a:ext cx="1371600" cy="3810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前期 · 基础验证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1"/>
                </a:solidFill>
                <a:latin typeface="Microsoft YaHei"/>
              </a:defRPr>
            </a:pPr>
            <a:r>
              <a:t>工具开发 + 代码能力验证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14800" y="3474720"/>
            <a:ext cx="365760" cy="274320"/>
          </a:xfrm>
          <a:prstGeom prst="rightArrow">
            <a:avLst/>
          </a:prstGeom>
          <a:solidFill>
            <a:srgbClr val="3A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383280" cy="438912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8288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6BB6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79" y="2651760"/>
            <a:ext cx="1371600" cy="381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中期 · 团队协作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1"/>
                </a:solidFill>
                <a:latin typeface="Microsoft YaHei"/>
              </a:defRPr>
            </a:pPr>
            <a:r>
              <a:t>多人协同 + 单点技术突破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63839" y="3474720"/>
            <a:ext cx="365760" cy="274320"/>
          </a:xfrm>
          <a:prstGeom prst="rightArrow">
            <a:avLst/>
          </a:prstGeom>
          <a:solidFill>
            <a:srgbClr val="3A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383280" cy="438912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8288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A726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2651760"/>
            <a:ext cx="1371600" cy="381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834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后期 · 自闭环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1"/>
                </a:solidFill>
                <a:latin typeface="Microsoft YaHei"/>
              </a:defRPr>
            </a:pPr>
            <a:r>
              <a:t>AI 自主完成研发全流程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8D1"/>
                </a:solidFill>
                <a:latin typeface="Microsoft YaHei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6C6DA"/>
                </a:solidFill>
                <a:latin typeface="Microsoft YaHei"/>
              </a:defRPr>
            </a:pPr>
            <a:r>
              <a:t>前期</a:t>
            </a:r>
            <a:r>
              <a:rPr sz="3200" b="1">
                <a:solidFill>
                  <a:srgbClr val="FFFFFF"/>
                </a:solidFill>
                <a:latin typeface="Microsoft YaHei"/>
              </a:rPr>
              <a:t>  基础验证阶段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C6DA"/>
                </a:solidFill>
                <a:latin typeface="Microsoft YaHei"/>
              </a:defRPr>
            </a:pPr>
            <a:r>
              <a:t>🔧  工具开发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▸  每日 arXiv 论文自动阅读系统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A3F6E"/>
                </a:solidFill>
                <a:latin typeface="Microsoft YaHei"/>
              </a:defRPr>
            </a:pPr>
            <a:r>
              <a:t>    根据所属研究领域，自动生成研究报告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▸  Paper List 自动维护与更新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A3F6E"/>
                </a:solidFill>
                <a:latin typeface="Microsoft YaHei"/>
              </a:defRPr>
            </a:pPr>
            <a:r>
              <a:t>    追踪领域前沿，降低信息筛选成本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▸  其他研发效率工具按需迭代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C6DA"/>
                </a:solidFill>
                <a:latin typeface="Microsoft YaHei"/>
              </a:defRPr>
            </a:pPr>
            <a:r>
              <a:t>💻  代码能力验证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▸  自动驾驶白盒逻辑构建试验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A3F6E"/>
                </a:solidFill>
                <a:latin typeface="Microsoft YaHei"/>
              </a:defRPr>
            </a:pPr>
            <a:r>
              <a:t>    以非算力依赖项目为切入点，用 AI 工具编写</a:t>
            </a:r>
            <a:br/>
            <a:r>
              <a:t>    自动驾驶百盒决策逻辑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▸  仿真器 + Agent 对抗验证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A3F6E"/>
                </a:solidFill>
                <a:latin typeface="Microsoft YaHei"/>
              </a:defRPr>
            </a:pPr>
            <a:r>
              <a:t>    构建仿真环境，通过 Agent 不断提升：</a:t>
            </a:r>
            <a:br/>
            <a:r>
              <a:t>    · 道路复杂度    · 困难样例</a:t>
            </a:r>
            <a:br/>
            <a:r>
              <a:t>    · 交互难度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▸  评估 AI 工具的系统代码构建能力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8D1"/>
                </a:solidFill>
                <a:latin typeface="Microsoft YaHei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BB6A"/>
                </a:solidFill>
                <a:latin typeface="Microsoft YaHei"/>
              </a:defRPr>
            </a:pPr>
            <a:r>
              <a:t>中期</a:t>
            </a:r>
            <a:r>
              <a:rPr sz="3200" b="1">
                <a:solidFill>
                  <a:srgbClr val="FFFFFF"/>
                </a:solidFill>
                <a:latin typeface="Microsoft YaHei"/>
              </a:rPr>
              <a:t>  团队协作与技术突破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6304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6BB6A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54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具身智能 · 团队协作探索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116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1"/>
                </a:solidFill>
                <a:latin typeface="Microsoft YaHei"/>
              </a:defRPr>
            </a:pPr>
            <a:r>
              <a:t>联合实习生，在 AI 工具协助下开展具身相关课题研发</a:t>
            </a:r>
            <a:br/>
            <a:r>
              <a:t>探索基于 AI 工具 + 飞书 + OpenClaw 的团队协作新模式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146304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6BB6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246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自动驾驶 · 单点技术验证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03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1"/>
                </a:solidFill>
                <a:latin typeface="Microsoft YaHei"/>
              </a:defRPr>
            </a:pPr>
            <a:r>
              <a:t>基于开源代码，在自动驾驶领域进行单点技术验证</a:t>
            </a:r>
            <a:br/>
            <a:r>
              <a:t>利用 AI 工具加速开源方案复现与改进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698480" cy="146304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6BB6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937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平台适配 · Agent 组件构建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3949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1"/>
                </a:solidFill>
                <a:latin typeface="Microsoft YaHei"/>
              </a:defRPr>
            </a:pPr>
            <a:r>
              <a:t>尝试通过 AI 工具构建：</a:t>
            </a:r>
            <a:br/>
            <a:r>
              <a:t>· GPU → 昇腾 NPU 代码迁移 Agent</a:t>
            </a:r>
            <a:br/>
            <a:r>
              <a:t>· 代码效率自动优化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8D1"/>
                </a:solidFill>
                <a:latin typeface="Microsoft YaHei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A726"/>
                </a:solidFill>
                <a:latin typeface="Microsoft YaHei"/>
              </a:defRPr>
            </a:pPr>
            <a:r>
              <a:t>后期</a:t>
            </a:r>
            <a:r>
              <a:rPr sz="3200" b="1">
                <a:solidFill>
                  <a:srgbClr val="FFFFFF"/>
                </a:solidFill>
                <a:latin typeface="Microsoft YaHei"/>
              </a:rPr>
              <a:t>  AI 自闭环研发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438912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9202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726"/>
                </a:solidFill>
                <a:latin typeface="Microsoft YaHei"/>
              </a:defRPr>
            </a:pPr>
            <a:r>
              <a:t>最终愿景：AI 自主完成研发全流程闭环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926080"/>
            <a:ext cx="1188720" cy="64008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9718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需求理解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3108960"/>
            <a:ext cx="182880" cy="182880"/>
          </a:xfrm>
          <a:prstGeom prst="rightArrow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6120" y="2926080"/>
            <a:ext cx="1188720" cy="64008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9718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方案设计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80560" y="3108960"/>
            <a:ext cx="182880" cy="182880"/>
          </a:xfrm>
          <a:prstGeom prst="rightArrow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2926080"/>
            <a:ext cx="1188720" cy="64008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9718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代码实现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97880" y="3108960"/>
            <a:ext cx="182880" cy="182880"/>
          </a:xfrm>
          <a:prstGeom prst="rightArrow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80760" y="2926080"/>
            <a:ext cx="1188720" cy="64008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9718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实验执行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315200" y="3108960"/>
            <a:ext cx="182880" cy="182880"/>
          </a:xfrm>
          <a:prstGeom prst="rightArrow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79" y="2926080"/>
            <a:ext cx="1188720" cy="64008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29718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结果分析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32519" y="3108960"/>
            <a:ext cx="182880" cy="182880"/>
          </a:xfrm>
          <a:prstGeom prst="rightArrow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15400" y="2926080"/>
            <a:ext cx="1188720" cy="64008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29718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论文撰写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02336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▸  AI 工具可自闭环完成：需求分析 → 实验设计 → 代码编写 → 实验运行 → 结果总结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▸  自动撰写实验报告与论文初稿，人工仅需审核与优化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▸  从「AI 辅助」进化为「AI 驱动」的研发范式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8D1"/>
                </a:solidFill>
                <a:latin typeface="Microsoft YaHe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资源需求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37160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45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AI 工具订阅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57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FC3F7"/>
                </a:solidFill>
                <a:latin typeface="Microsoft YaHei"/>
              </a:defRPr>
            </a:pPr>
            <a:r>
              <a:t>OpenClaw / Claude Code 等会员费用（可报销）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23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3F6E"/>
                </a:solidFill>
                <a:latin typeface="Microsoft YaHei"/>
              </a:defRPr>
            </a:pPr>
            <a:r>
              <a:t>用于日常研发效能提升，按需订阅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10698480" cy="137160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🖥️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外部算力资源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FC3F7"/>
                </a:solidFill>
                <a:latin typeface="Microsoft YaHei"/>
              </a:defRPr>
            </a:pPr>
            <a:r>
              <a:t>GPU 服务器 ×4  +  昇腾 NPU 资源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3F6E"/>
                </a:solidFill>
                <a:latin typeface="Microsoft YaHei"/>
              </a:defRPr>
            </a:pPr>
            <a:r>
              <a:t>支撑模型训练、仿真实验、代码迁移验证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698480" cy="137160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46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人力支持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257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FC3F7"/>
                </a:solidFill>
                <a:latin typeface="Microsoft YaHei"/>
              </a:defRPr>
            </a:pPr>
            <a:r>
              <a:t>1 ~ 2 人协助（非强需求）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623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A3F6E"/>
                </a:solidFill>
                <a:latin typeface="Microsoft YaHei"/>
              </a:defRPr>
            </a:pPr>
            <a:r>
              <a:t>配合 AI 工具进行协作开发与实验验证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8D1"/>
                </a:solidFill>
                <a:latin typeface="Microsoft YaHei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总结与下一步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194560"/>
          </a:xfrm>
          <a:prstGeom prst="roundRect">
            <a:avLst>
              <a:gd name="adj" fmla="val 2000"/>
            </a:avLst>
          </a:prstGeom>
          <a:solidFill>
            <a:srgbClr val="24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  <a:latin typeface="Microsoft YaHei"/>
              </a:defRPr>
            </a:pPr>
            <a:r>
              <a:t>核心思路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600" b="0">
                <a:solidFill>
                  <a:srgbClr val="B0B8D1"/>
                </a:solidFill>
                <a:latin typeface="Microsoft YaHei"/>
              </a:defRPr>
            </a:pPr>
            <a:r>
              <a:t>以外部 AI 工具为核心驱动力，从工具验证 → 团队协作 → 自闭环研发，分三阶段逐步推进。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600" b="0">
                <a:solidFill>
                  <a:srgbClr val="B0B8D1"/>
                </a:solidFill>
                <a:latin typeface="Microsoft YaHei"/>
              </a:defRPr>
            </a:pPr>
            <a:r>
              <a:t>前期低成本试错，中期形成方法论，后期实现 AI 驱动的研发范式变革。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下一步行动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1.  审批 AI 工具订阅费用，启动前期验证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83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2.  确认外部 GPU / NPU 算力资源采购方案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3.  启动 arXiv 论文阅读工具与白盒逻辑验证项目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89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D1"/>
                </a:solidFill>
                <a:latin typeface="Microsoft YaHei"/>
              </a:defRPr>
            </a:pPr>
            <a:r>
              <a:t>4.  定期汇报阶段进展，根据效果决定后续投入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A3F6E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8D1"/>
                </a:solidFill>
                <a:latin typeface="Microsoft YaHei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